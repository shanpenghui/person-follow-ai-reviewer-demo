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242a98fc94496f" /><Relationship Type="http://schemas.openxmlformats.org/officeDocument/2006/relationships/extended-properties" Target="/docProps/app.xml" Id="Rc470eac57e924302" /><Relationship Type="http://schemas.openxmlformats.org/officeDocument/2006/relationships/officeDocument" Target="/ppt/presentation.xml" Id="R24dbd230753c4e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99be8e0c10483f"/>
  </p:sldMasterIdLst>
  <p:notesMasterIdLst>
    <p:notesMasterId xmlns:r="http://schemas.openxmlformats.org/officeDocument/2006/relationships" r:id="R4f86757fff334295"/>
  </p:notesMasterIdLst>
  <p:sldIdLst>
    <p:sldId xmlns:r="http://schemas.openxmlformats.org/officeDocument/2006/relationships" id="256" r:id="R915a56c2c08641be"/>
    <p:sldId xmlns:r="http://schemas.openxmlformats.org/officeDocument/2006/relationships" id="257" r:id="R1917dddd7aef4960"/>
    <p:sldId xmlns:r="http://schemas.openxmlformats.org/officeDocument/2006/relationships" id="258" r:id="R715de9fcf6184ef6"/>
    <p:sldId xmlns:r="http://schemas.openxmlformats.org/officeDocument/2006/relationships" id="259" r:id="R66c4f561c1854eb2"/>
    <p:sldId xmlns:r="http://schemas.openxmlformats.org/officeDocument/2006/relationships" id="260" r:id="Ra4babe592c2e481e"/>
    <p:sldId xmlns:r="http://schemas.openxmlformats.org/officeDocument/2006/relationships" id="261" r:id="R7ebec255fb244c0e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99be8e0c10483f" /><Relationship Type="http://schemas.openxmlformats.org/officeDocument/2006/relationships/theme" Target="/ppt/theme/theme1.xml" Id="R2e4eb82553e444a7" /><Relationship Type="http://schemas.openxmlformats.org/officeDocument/2006/relationships/notesMaster" Target="/ppt/notesMasters/notesMaster1.xml" Id="R4f86757fff334295" /><Relationship Type="http://schemas.openxmlformats.org/officeDocument/2006/relationships/presProps" Target="/ppt/presProps.xml" Id="Red5b91b002b449e5" /><Relationship Type="http://schemas.openxmlformats.org/officeDocument/2006/relationships/viewProps" Target="/ppt/viewProps.xml" Id="Rfdca62110df140ba" /><Relationship Type="http://schemas.openxmlformats.org/officeDocument/2006/relationships/tableStyles" Target="/ppt/tableStyles.xml" Id="R6d655566747c4abd" /><Relationship Type="http://schemas.openxmlformats.org/officeDocument/2006/relationships/slide" Target="/ppt/slides/slide1.xml" Id="R915a56c2c08641be" /><Relationship Type="http://schemas.openxmlformats.org/officeDocument/2006/relationships/slide" Target="/ppt/slides/slide2.xml" Id="R1917dddd7aef4960" /><Relationship Type="http://schemas.openxmlformats.org/officeDocument/2006/relationships/slide" Target="/ppt/slides/slide3.xml" Id="R715de9fcf6184ef6" /><Relationship Type="http://schemas.openxmlformats.org/officeDocument/2006/relationships/slide" Target="/ppt/slides/slide4.xml" Id="R66c4f561c1854eb2" /><Relationship Type="http://schemas.openxmlformats.org/officeDocument/2006/relationships/slide" Target="/ppt/slides/slide5.xml" Id="Ra4babe592c2e481e" /><Relationship Type="http://schemas.openxmlformats.org/officeDocument/2006/relationships/slide" Target="/ppt/slides/slide6.xml" Id="R7ebec255fb244c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1696fff6a4a41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4b77997f694d4d" /><Relationship Type="http://schemas.openxmlformats.org/officeDocument/2006/relationships/notesMaster" Target="/ppt/notesMasters/notesMaster1.xml" Id="R21d22419e4ab47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12c06b97eeb41ab" /><Relationship Type="http://schemas.openxmlformats.org/officeDocument/2006/relationships/notesMaster" Target="/ppt/notesMasters/notesMaster1.xml" Id="R675823bf3db34e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a6c889cf04f4f6c" /><Relationship Type="http://schemas.openxmlformats.org/officeDocument/2006/relationships/notesMaster" Target="/ppt/notesMasters/notesMaster1.xml" Id="R4dd7a3bf1ba843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33e1310c9a4754" /><Relationship Type="http://schemas.openxmlformats.org/officeDocument/2006/relationships/notesMaster" Target="/ppt/notesMasters/notesMaster1.xml" Id="Rb067ec58d4e94e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cba50f3b824425" /><Relationship Type="http://schemas.openxmlformats.org/officeDocument/2006/relationships/notesMaster" Target="/ppt/notesMasters/notesMaster1.xml" Id="R2eb796be2eab4e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f0667470fb4fac" /><Relationship Type="http://schemas.openxmlformats.org/officeDocument/2006/relationships/notesMaster" Target="/ppt/notesMasters/notesMaster1.xml" Id="Rec1d8a252fdf43d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7d2564b2cc480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140607a4ff6465d" /><Relationship Type="http://schemas.openxmlformats.org/officeDocument/2006/relationships/slideLayout" Target="/ppt/slideLayouts/slideLayout2.xml" Id="Ra9752d0902ba441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752d0902ba44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539fdf052e4334" /><Relationship Type="http://schemas.openxmlformats.org/officeDocument/2006/relationships/notesSlide" Target="/ppt/notesSlides/notesSlide1.xml" Id="R02cf7cf60c974d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4b30a3e26c48de" /><Relationship Type="http://schemas.openxmlformats.org/officeDocument/2006/relationships/notesSlide" Target="/ppt/notesSlides/notesSlide2.xml" Id="R57e60067b5f74a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b09a04c160421a" /><Relationship Type="http://schemas.openxmlformats.org/officeDocument/2006/relationships/notesSlide" Target="/ppt/notesSlides/notesSlide3.xml" Id="Rf1c0e24f459941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3efc9bdac0474e" /><Relationship Type="http://schemas.openxmlformats.org/officeDocument/2006/relationships/chart" Target="/ppt/slides/charts/chart1.xml" Id="Rdbdc99cd5e3244fe" /><Relationship Type="http://schemas.openxmlformats.org/officeDocument/2006/relationships/notesSlide" Target="/ppt/notesSlides/notesSlide4.xml" Id="Re4113851af664e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51671b0817495f" /><Relationship Type="http://schemas.openxmlformats.org/officeDocument/2006/relationships/chart" Target="/ppt/slides/charts/chart2.xml" Id="R7c5ee627a3a04554" /><Relationship Type="http://schemas.openxmlformats.org/officeDocument/2006/relationships/notesSlide" Target="/ppt/notesSlides/notesSlide5.xml" Id="R75c4ea5d542e492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18c72292d948a9" /><Relationship Type="http://schemas.openxmlformats.org/officeDocument/2006/relationships/chart" Target="/ppt/slides/charts/chart3.xml" Id="R79a9fd9fe29848b4" /><Relationship Type="http://schemas.openxmlformats.org/officeDocument/2006/relationships/notesSlide" Target="/ppt/notesSlides/notesSlide6.xml" Id="R4b16de5668cb4082" /></Relationships>
</file>

<file path=ppt/slides/charts/chart1.xml><?xml version="1.0" encoding="utf-8"?>
<c:chartSpace xmlns:c="http://schemas.openxmlformats.org/drawingml/2006/chart">
  <c:lang val="en-US"/>
  <c:roundedCorners val="0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首轮评审准备时间（分钟）</a:t>
            </a:r>
          </a:p>
        </c:rich>
      </c:tx>
      <c:overlay val="0"/>
    </c:title>
    <c:autoTitleDeleted val="0"/>
    <c:plotArea>
      <c:layout/>
      <c:barChart>
        <c:barDir val="col"/>
        <c:varyColors val="0"/>
        <c:ser>
          <c:idx val="0"/>
          <c:order val="0"/>
          <c:tx>
            <c:v>人工</c:v>
          </c:tx>
          <c:cat>
            <c:strLit>
              <c:ptCount val="4"/>
              <c:pt idx="0">
                <c:v>理解 diff</c:v>
              </c:pt>
              <c:pt idx="1">
                <c:v>影响判断</c:v>
              </c:pt>
              <c:pt idx="2">
                <c:v>测试整理</c:v>
              </c:pt>
              <c:pt idx="3">
                <c:v>总计</c:v>
              </c:pt>
            </c:strLit>
          </c:cat>
          <c:val>
            <c:numLit>
              <c:formatCode/>
              <c:ptCount val="4"/>
              <c:pt idx="0">
                <c:v>12</c:v>
              </c:pt>
              <c:pt idx="1">
                <c:v>8</c:v>
              </c:pt>
              <c:pt idx="2">
                <c:v>5</c:v>
              </c:pt>
              <c:pt idx="3">
                <c:v>25</c:v>
              </c:pt>
            </c:numLit>
          </c:val>
        </c:ser>
        <c:ser>
          <c:idx val="1"/>
          <c:order val="1"/>
          <c:tx>
            <c:v>AI 辅助</c:v>
          </c:tx>
          <c:cat>
            <c:strLit>
              <c:ptCount val="4"/>
              <c:pt idx="0">
                <c:v>理解 diff</c:v>
              </c:pt>
              <c:pt idx="1">
                <c:v>影响判断</c:v>
              </c:pt>
              <c:pt idx="2">
                <c:v>测试整理</c:v>
              </c:pt>
              <c:pt idx="3">
                <c:v>总计</c:v>
              </c:pt>
            </c:strLit>
          </c:cat>
          <c:val>
            <c:numLit>
              <c:formatCode/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3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charts/chart2.xml><?xml version="1.0" encoding="utf-8"?>
<c:chartSpace xmlns:c="http://schemas.openxmlformats.org/drawingml/2006/chart">
  <c:lang val="en-US"/>
  <c:roundedCorners val="0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demo patch 命中质量</a:t>
            </a:r>
          </a:p>
        </c:rich>
      </c:tx>
      <c:overlay val="0"/>
    </c:title>
    <c:autoTitleDeleted val="0"/>
    <c:plotArea>
      <c:layout/>
      <c:barChart>
        <c:barDir val="col"/>
        <c:varyColors val="0"/>
        <c:ser>
          <c:idx val="0"/>
          <c:order val="0"/>
          <c:tx>
            <c:v>人工首轮</c:v>
          </c:tx>
          <c:cat>
            <c:strLit>
              <c:ptCount val="4"/>
              <c:pt idx="0">
                <c:v>高风险命中</c:v>
              </c:pt>
              <c:pt idx="1">
                <c:v>测试建议</c:v>
              </c:pt>
              <c:pt idx="2">
                <c:v>文件定位</c:v>
              </c:pt>
              <c:pt idx="3">
                <c:v>函数定位</c:v>
              </c:pt>
            </c:strLit>
          </c:cat>
          <c:val>
            <c:numLit>
              <c:formatCode/>
              <c:ptCount val="4"/>
              <c:pt idx="0">
                <c:v>1</c:v>
              </c:pt>
              <c:pt idx="1">
                <c:v>2</c:v>
              </c:pt>
              <c:pt idx="2">
                <c:v>2</c:v>
              </c:pt>
              <c:pt idx="3">
                <c:v>1</c:v>
              </c:pt>
            </c:numLit>
          </c:val>
        </c:ser>
        <c:ser>
          <c:idx val="1"/>
          <c:order val="1"/>
          <c:tx>
            <c:v>AI 初筛</c:v>
          </c:tx>
          <c:cat>
            <c:strLit>
              <c:ptCount val="4"/>
              <c:pt idx="0">
                <c:v>高风险命中</c:v>
              </c:pt>
              <c:pt idx="1">
                <c:v>测试建议</c:v>
              </c:pt>
              <c:pt idx="2">
                <c:v>文件定位</c:v>
              </c:pt>
              <c:pt idx="3">
                <c:v>函数定位</c:v>
              </c:pt>
            </c:strLit>
          </c:cat>
          <c:val>
            <c:numLit>
              <c:formatCode/>
              <c:ptCount val="4"/>
              <c:pt idx="0">
                <c:v>2</c:v>
              </c:pt>
              <c:pt idx="1">
                <c:v>6</c:v>
              </c:pt>
              <c:pt idx="2">
                <c:v>2</c:v>
              </c:pt>
              <c:pt idx="3">
                <c:v>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charts/chart3.xml><?xml version="1.0" encoding="utf-8"?>
<c:chartSpace xmlns:c="http://schemas.openxmlformats.org/drawingml/2006/chart">
  <c:lang val="en-US"/>
  <c:roundedCorners val="0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部门收益指数（人工=100）</a:t>
            </a:r>
          </a:p>
        </c:rich>
      </c:tx>
      <c:overlay val="0"/>
    </c:title>
    <c:autoTitleDeleted val="0"/>
    <c:plotArea>
      <c:layout/>
      <c:barChart>
        <c:barDir val="col"/>
        <c:varyColors val="0"/>
        <c:ser>
          <c:idx val="0"/>
          <c:order val="0"/>
          <c:tx>
            <c:v>综合指数</c:v>
          </c:tx>
          <c:cat>
            <c:strLit>
              <c:ptCount val="2"/>
              <c:pt idx="0">
                <c:v>人工流程</c:v>
              </c:pt>
              <c:pt idx="1">
                <c:v>AI 辅助流程</c:v>
              </c:pt>
            </c:strLit>
          </c:cat>
          <c:val>
            <c:numLit>
              <c:formatCode/>
              <c:ptCount val="2"/>
              <c:pt idx="0">
                <c:v>100</c:v>
              </c:pt>
              <c:pt idx="1">
                <c:v>260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DABD50-4097-48A2-BD0C-0F384E43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6096000" cy="1562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17223B"/>
                </a:solidFill>
              </a:defRPr>
            </a:pPr>
            <a:r>
              <a:rPr sz="5100" b="1">
                <a:solidFill>
                  <a:srgbClr val="17223B"/>
                </a:solidFill>
              </a:rPr>
              <a:t>面向研发部门的 AI PR 风险前置方案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DEBB7C-2DBF-413B-99A2-1C201B99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29150"/>
            <a:ext cx="79819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0506A"/>
                </a:solidFill>
              </a:defRPr>
            </a:pPr>
            <a:r>
              <a:rPr sz="2025">
                <a:solidFill>
                  <a:srgbClr val="40506A"/>
                </a:solidFill>
              </a:rPr>
              <a:t>以 person_follow 机器人跟随模块为例，把评审准备、风险识别、测试建议和知识沉淀前置到 PR 阶段。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E01A45-F892-4699-9B56-DD2AD222E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4060"/>
            <a:ext cx="4095750" cy="1672590"/>
          </a:xfrm>
          <a:prstGeom xmlns:a="http://schemas.openxmlformats.org/drawingml/2006/main" prst="roundRect">
            <a:avLst>
              <a:gd name="adj" fmla="val 68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2A02EB-AEB4-4959-8E96-61C44D554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038850"/>
            <a:ext cx="3562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6A34A"/>
                </a:solidFill>
              </a:defRPr>
            </a:pPr>
            <a:r>
              <a:rPr sz="4050" b="1">
                <a:solidFill>
                  <a:srgbClr val="16A34A"/>
                </a:solidFill>
              </a:rPr>
              <a:t>25 -&gt; 3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A2CEB3-DDF7-4C07-9756-C86B00B6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743700"/>
            <a:ext cx="35623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首轮评审准备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6BF784-93EC-4963-AEF9-83F30EE7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7067550"/>
            <a:ext cx="35623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单 PR demo 口径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6C12BD-E79D-4E78-814F-AE93F71B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814060"/>
            <a:ext cx="4095750" cy="1672590"/>
          </a:xfrm>
          <a:prstGeom xmlns:a="http://schemas.openxmlformats.org/drawingml/2006/main" prst="roundRect">
            <a:avLst>
              <a:gd name="adj" fmla="val 68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FED39F-C8C1-4576-B8AD-0BD62281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6038850"/>
            <a:ext cx="3562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2563EB"/>
                </a:solidFill>
              </a:defRPr>
            </a:pPr>
            <a:r>
              <a:rPr sz="4050" b="1">
                <a:solidFill>
                  <a:srgbClr val="2563EB"/>
                </a:solidFill>
              </a:rPr>
              <a:t>7.3 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8A7869-D276-4A3E-87D6-65E332F5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6743700"/>
            <a:ext cx="35623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每周节省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3F9C34-CA2B-48EC-B7D2-5DF1DB23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7067550"/>
            <a:ext cx="35623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按 20 个 PR 估算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A1CE9E-DFD2-4071-871A-6AF474D4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704850"/>
            <a:ext cx="7600950" cy="8877300"/>
          </a:xfrm>
          <a:prstGeom xmlns:a="http://schemas.openxmlformats.org/drawingml/2006/main" prst="roundRect">
            <a:avLst>
              <a:gd name="adj" fmla="val 20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3E5F8F-1D65-4308-9276-E2550604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638550"/>
            <a:ext cx="6800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23B"/>
                </a:solidFill>
              </a:defRPr>
            </a:pPr>
            <a:r>
              <a:rPr sz="2325" b="1">
                <a:solidFill>
                  <a:srgbClr val="17223B"/>
                </a:solidFill>
              </a:rPr>
              <a:t>研发部门关心的不是“会聊天”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33DB4A-26C3-49E5-A3A0-0FA43D78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248150"/>
            <a:ext cx="680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F"/>
          </a:solidFill>
          <a:ln xmlns:a="http://schemas.openxmlformats.org/drawingml/2006/main" w="0">
            <a:solidFill>
              <a:srgbClr val="D9E2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54E2DE-C763-454E-BB9B-4D073BCCD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50723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CF4251-B294-4D36-BA05-944AB7FB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648200"/>
            <a:ext cx="11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644024-1DE8-4DC8-A4F0-7A287BDA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514850"/>
            <a:ext cx="6096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F2937"/>
                </a:solidFill>
              </a:defRPr>
            </a:pPr>
            <a:r>
              <a:rPr sz="1875" b="1">
                <a:solidFill>
                  <a:srgbClr val="1F2937"/>
                </a:solidFill>
              </a:rPr>
              <a:t>PR 吞吐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73074F-96C4-4277-AEE7-A4EA0444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857750"/>
            <a:ext cx="39433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缩短 reviewer 找上下文和判断影响范围的准备时间。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49A54F-FCB0-4390-91EE-0EB41254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530352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11D48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D05E29-E4B5-442A-BA4B-4B98D9DF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5429250"/>
            <a:ext cx="11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E560C2-AF5B-4B6D-8B99-56B94DF9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295900"/>
            <a:ext cx="6096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F2937"/>
                </a:solidFill>
              </a:defRPr>
            </a:pPr>
            <a:r>
              <a:rPr sz="1875" b="1">
                <a:solidFill>
                  <a:srgbClr val="1F2937"/>
                </a:solidFill>
              </a:rPr>
              <a:t>质量前置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61E02B-5367-4433-9210-72A5C82E8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638800"/>
            <a:ext cx="41148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运动安全、接口契约、测试缺失等高风险点更早暴露。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3F849-6972-448D-A98A-5E018BA8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609981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F8F"/>
          </a:solidFill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326D96-1ED1-4400-B5B5-8E7AD920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6229350"/>
            <a:ext cx="11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C71479-79B3-4B5A-9F20-85ADD446E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096000"/>
            <a:ext cx="6096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F2937"/>
                </a:solidFill>
              </a:defRPr>
            </a:pPr>
            <a:r>
              <a:rPr sz="1875" b="1">
                <a:solidFill>
                  <a:srgbClr val="1F2937"/>
                </a:solidFill>
              </a:rPr>
              <a:t>团队复用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0EDB62-DFEC-431B-926E-E0639E17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38900"/>
            <a:ext cx="4152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把老员工经验沉淀成规则、prompt 和可复用测试清单。</a:t>
            </a:r>
          </a:p>
        </p:txBody>
      </p:sp>
    </p:spTree>
    <p:extLst>
      <p:ext uri="{BB962C8B-B14F-4D97-AF65-F5344CB8AC3E}">
        <p14:creationId xmlns:p14="http://schemas.microsoft.com/office/powerpoint/2010/main" val="152908811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00742D-B842-4177-A309-1EED5176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0550"/>
            <a:ext cx="5143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23B"/>
                </a:solidFill>
              </a:defRPr>
            </a:pPr>
            <a:r>
              <a:rPr sz="4050" b="1">
                <a:solidFill>
                  <a:srgbClr val="17223B"/>
                </a:solidFill>
              </a:rPr>
              <a:t>研发部门怎么落地使用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3B02A8-D467-4526-9A62-207A3EA2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33500"/>
            <a:ext cx="7143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4748B"/>
                </a:solidFill>
              </a:defRPr>
            </a:pPr>
            <a:r>
              <a:rPr sz="1800">
                <a:solidFill>
                  <a:srgbClr val="64748B"/>
                </a:solidFill>
              </a:rPr>
              <a:t>建议先以离线 demo 展示，再接入 GitHub/GitLab Webhook 做 2 周试点。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2291A-0405-4E8A-AFFB-690A5E86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1361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03B35C-4BC9-4B0F-9424-E342F7ED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1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609CA9-777D-4462-B9EA-50EF7BF1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09800"/>
            <a:ext cx="695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F2937"/>
                </a:solidFill>
              </a:defRPr>
            </a:pPr>
            <a:r>
              <a:rPr sz="1875" b="1">
                <a:solidFill>
                  <a:srgbClr val="1F2937"/>
                </a:solidFill>
              </a:rPr>
              <a:t>开发者提交 PR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1CBB0F-333D-4092-AE24-53A937EF3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52700"/>
            <a:ext cx="31813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工具读取 diff，解析变更文件和新增行号。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4B55C4-487E-4956-900C-85EA4C0E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2895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F8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668914-8D3E-4A29-A646-9800C4A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62300"/>
            <a:ext cx="11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99EB1-718A-4DCD-B032-BE09BC0B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28950"/>
            <a:ext cx="695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F2937"/>
                </a:solidFill>
              </a:defRPr>
            </a:pPr>
            <a:r>
              <a:rPr sz="1875" b="1">
                <a:solidFill>
                  <a:srgbClr val="1F2937"/>
                </a:solidFill>
              </a:rPr>
              <a:t>自动定位上下文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FEB369-5ED3-4E9D-B5F8-E64FC656E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71850"/>
            <a:ext cx="33909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AST 定位函数级上下文，检索项目风险规则。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BF12DC-CFC6-4526-8F5A-DD2B9433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003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20A889-1B41-4BF8-9450-55FA3190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191000"/>
            <a:ext cx="11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603034-4FE0-4967-978F-F9F5C121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57650"/>
            <a:ext cx="695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F2937"/>
                </a:solidFill>
              </a:defRPr>
            </a:pPr>
            <a:r>
              <a:rPr sz="1875" b="1">
                <a:solidFill>
                  <a:srgbClr val="1F2937"/>
                </a:solidFill>
              </a:rPr>
              <a:t>AI 生成初筛报告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D5C7D0-C5CC-4CCE-BD12-BAABA578D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00550"/>
            <a:ext cx="4629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输出风险等级、命中函数、测试建议和需要人工确认的问题。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694521-6968-4B97-834F-BAEE44AE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6537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11D48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E20644-6583-4738-8596-BB4DCE2E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91100"/>
            <a:ext cx="11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F11346-AD77-43FE-8D38-9D7EDB39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57750"/>
            <a:ext cx="695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F2937"/>
                </a:solidFill>
              </a:defRPr>
            </a:pPr>
            <a:r>
              <a:rPr sz="1875" b="1">
                <a:solidFill>
                  <a:srgbClr val="1F2937"/>
                </a:solidFill>
              </a:rPr>
              <a:t>Reviewer 关闭闭环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96C84C-04F6-4D6D-B4F6-43157D97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00650"/>
            <a:ext cx="3771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人工确认、采纳或忽略建议，结果进入团队度量。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339B78-46AA-476B-9D8F-770E356D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791" y="2213610"/>
            <a:ext cx="8471059" cy="7482840"/>
          </a:xfrm>
          <a:prstGeom xmlns:a="http://schemas.openxmlformats.org/drawingml/2006/main" prst="roundRect">
            <a:avLst>
              <a:gd name="adj" fmla="val 1782"/>
            </a:avLst>
          </a:prstGeom>
          <a:solidFill xmlns:a="http://schemas.openxmlformats.org/drawingml/2006/main">
            <a:srgbClr val="111827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BDB622-D366-4104-917A-BBA1C7B7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52700"/>
            <a:ext cx="7791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7D2FE"/>
                </a:solidFill>
              </a:defRPr>
            </a:pPr>
            <a:r>
              <a:rPr sz="1800" b="1">
                <a:solidFill>
                  <a:srgbClr val="C7D2FE"/>
                </a:solidFill>
              </a:rPr>
              <a:t>本地演示命令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860FAB-06F5-4198-BEB0-7327F5B6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09900"/>
            <a:ext cx="560070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cd D:\person-follow-ai-reviewer-demo</a:t>
            </a:r>
          </a:p>
          <a:p xmlns:a="http://schemas.openxmlformats.org/drawingml/2006/main">
            <a:pPr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python -m unittest discover -s tests</a:t>
            </a:r>
          </a:p>
          <a:p xmlns:a="http://schemas.openxmlformats.org/drawingml/2006/main">
            <a:pPr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python -m ai_review_bot.cli --repo sample_repo --diff examples\risky_person_follow.patch --include-prompt --output reports\demo_review.md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3DEB8C-2AF5-495F-AE31-9414F399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495800"/>
            <a:ext cx="779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140C20-3531-4443-93D0-F81DF989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686300"/>
            <a:ext cx="7791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7D2FE"/>
                </a:solidFill>
              </a:defRPr>
            </a:pPr>
            <a:r>
              <a:rPr sz="1800" b="1">
                <a:solidFill>
                  <a:srgbClr val="C7D2FE"/>
                </a:solidFill>
              </a:rPr>
              <a:t>部门试点接入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E4E6F0-389E-4F67-B1CB-B209FE1B8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124450"/>
            <a:ext cx="4476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PR opened / updated -&gt; 触发分析 -&gt; 评论到 PR -&gt; 采纳率与缺陷前置率进入看板</a:t>
            </a:r>
          </a:p>
        </p:txBody>
      </p:sp>
    </p:spTree>
    <p:extLst>
      <p:ext uri="{BB962C8B-B14F-4D97-AF65-F5344CB8AC3E}">
        <p14:creationId xmlns:p14="http://schemas.microsoft.com/office/powerpoint/2010/main" val="4793736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1EB078-3E2E-4E1B-897C-E13ED020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0550"/>
            <a:ext cx="36004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23B"/>
                </a:solidFill>
              </a:defRPr>
            </a:pPr>
            <a:r>
              <a:rPr sz="4050" b="1">
                <a:solidFill>
                  <a:srgbClr val="17223B"/>
                </a:solidFill>
              </a:rPr>
              <a:t>从研发痛点出发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FE8D54-24FD-41E9-BC27-CFAA452E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33500"/>
            <a:ext cx="8877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4748B"/>
                </a:solidFill>
              </a:defRPr>
            </a:pPr>
            <a:r>
              <a:rPr sz="1800">
                <a:solidFill>
                  <a:srgbClr val="64748B"/>
                </a:solidFill>
              </a:rPr>
              <a:t>这个工具解决的是 PR 阶段的重复性认知负担和质量前置问题，而不是为了用 AI 而用 AI。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9F56D3-AC4F-4314-96E2-46574B2C5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51710"/>
            <a:ext cx="3990975" cy="4762500"/>
          </a:xfrm>
          <a:prstGeom xmlns:a="http://schemas.openxmlformats.org/drawingml/2006/main" prst="roundRect">
            <a:avLst>
              <a:gd name="adj" fmla="val 2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DFF8CE-B323-4BA3-BDEB-851D2960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1841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57C660-D461-4D1B-A49A-3D105CB3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47950"/>
            <a:ext cx="11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05F810-943B-40D0-854E-FA3CFAC6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F2937"/>
                </a:solidFill>
              </a:defRPr>
            </a:pPr>
            <a:r>
              <a:rPr sz="1875" b="1">
                <a:solidFill>
                  <a:srgbClr val="1F2937"/>
                </a:solidFill>
              </a:rPr>
              <a:t>Reviewer 时间碎片化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BA4E71-7034-4582-9B6C-B0C5529E2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857500"/>
            <a:ext cx="39433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人工先找上下文，真正看设计和风险的时间被压缩。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A4830F-7C87-4783-A034-35CA8CE99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251710"/>
            <a:ext cx="3990975" cy="4762500"/>
          </a:xfrm>
          <a:prstGeom xmlns:a="http://schemas.openxmlformats.org/drawingml/2006/main" prst="roundRect">
            <a:avLst>
              <a:gd name="adj" fmla="val 2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BD42BD-5D22-4A25-B056-7B640381C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51841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F8F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EE5FF3-B5A0-417D-9066-20CDD5F3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47950"/>
            <a:ext cx="11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5633D4-90C8-4223-8CD9-36E3E96D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146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F2937"/>
                </a:solidFill>
              </a:defRPr>
            </a:pPr>
            <a:r>
              <a:rPr sz="1875" b="1">
                <a:solidFill>
                  <a:srgbClr val="1F2937"/>
                </a:solidFill>
              </a:rPr>
              <a:t>老模块隐性知识多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92FD8D-71EB-4570-B369-B6D9B00FE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57500"/>
            <a:ext cx="46291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运动控制、Action 契约、手势 FSM 规则散落在代码和文档里。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B937DA-FFF2-4CBD-94FD-6AE2236F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251710"/>
            <a:ext cx="3990975" cy="4762500"/>
          </a:xfrm>
          <a:prstGeom xmlns:a="http://schemas.openxmlformats.org/drawingml/2006/main" prst="roundRect">
            <a:avLst>
              <a:gd name="adj" fmla="val 2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0C7E55-E21F-4699-824D-33CA61B9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51841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721310-4E4E-4043-BE21-CE89EE66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647950"/>
            <a:ext cx="11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B2416A-1EF3-4920-A444-603C0A49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146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F2937"/>
                </a:solidFill>
              </a:defRPr>
            </a:pPr>
            <a:r>
              <a:rPr sz="1875" b="1">
                <a:solidFill>
                  <a:srgbClr val="1F2937"/>
                </a:solidFill>
              </a:rPr>
              <a:t>测试补全不稳定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999C08-0657-4936-983B-9BC9B5BF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857500"/>
            <a:ext cx="3257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经常知道要补测试，但缺少具体场景清单。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EBF559-27F5-47B8-95D6-9830D997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7875" y="2251710"/>
            <a:ext cx="3990975" cy="4762500"/>
          </a:xfrm>
          <a:prstGeom xmlns:a="http://schemas.openxmlformats.org/drawingml/2006/main" prst="roundRect">
            <a:avLst>
              <a:gd name="adj" fmla="val 2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88308-C7D8-4B45-BEA2-A8CF70FB9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4575" y="251841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11D48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4C733A-C2D2-4185-AB55-D0BC0036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2647950"/>
            <a:ext cx="11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055DAB-60BB-44D9-901D-BABF325D3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0" y="25146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F2937"/>
                </a:solidFill>
              </a:defRPr>
            </a:pPr>
            <a:r>
              <a:rPr sz="1875" b="1">
                <a:solidFill>
                  <a:srgbClr val="1F2937"/>
                </a:solidFill>
              </a:rPr>
              <a:t>规则 + 上下文 + LLM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FD1D76-FA57-4C81-BC8C-A75FBAB8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0" y="2857500"/>
            <a:ext cx="39433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先召回高风险上下文，再生成 reviewer 可执行建议。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E71FCB-3162-440F-8730-4733C93B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372350"/>
            <a:ext cx="62674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部门价值：把个人经验变成可复用的工程规则，让每个 PR 都经过一致的质量门槛。</a:t>
            </a:r>
          </a:p>
        </p:txBody>
      </p:sp>
    </p:spTree>
    <p:extLst>
      <p:ext uri="{BB962C8B-B14F-4D97-AF65-F5344CB8AC3E}">
        <p14:creationId xmlns:p14="http://schemas.microsoft.com/office/powerpoint/2010/main" val="18068281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F4363D-5B94-4D48-985F-3D8874B5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0550"/>
            <a:ext cx="104394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23B"/>
                </a:solidFill>
              </a:defRPr>
            </a:pPr>
            <a:r>
              <a:rPr sz="4050" b="1">
                <a:solidFill>
                  <a:srgbClr val="17223B"/>
                </a:solidFill>
              </a:rPr>
              <a:t>提效指标 1：提升 PR 吞吐，减少评审准备成本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C3FC75-1642-4949-86E2-A8CF70F8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62150"/>
            <a:ext cx="78295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4748B"/>
                </a:solidFill>
              </a:defRPr>
            </a:pPr>
            <a:r>
              <a:rPr sz="1800">
                <a:solidFill>
                  <a:srgbClr val="64748B"/>
                </a:solidFill>
              </a:rPr>
              <a:t>演示口径：单个中等规模机器人跟随 PR；部门估算按每周 20 个类似 PR 计算。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616AA5-FC12-4B62-9DCF-D87E05A5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0"/>
            <a:ext cx="7600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理解 diff + 找相关函数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A0D232-BF6F-4F6E-A757-A4B9826A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29050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人工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8CEE6E-2C2A-4F81-A36A-131E3CF55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86200"/>
            <a:ext cx="4245429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4A3B8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795BC6-3E01-4FAA-933F-7740DB01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29050"/>
            <a:ext cx="87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12min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FBAA0-55C4-48DC-BF3D-303242418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67200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1E8E5-9731-48BD-B803-043B5B8AA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305300"/>
            <a:ext cx="353786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A34A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BEB01-67E9-41A6-BA59-25839B4A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267200"/>
            <a:ext cx="87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A34A"/>
                </a:solidFill>
              </a:defRPr>
            </a:pPr>
            <a:r>
              <a:rPr sz="1275" b="1">
                <a:solidFill>
                  <a:srgbClr val="16A34A"/>
                </a:solidFill>
              </a:rPr>
              <a:t>1min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685004-F49E-4580-A235-A88D5E87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7600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影响范围判断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1743CD-613C-4F44-94DE-212D411E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人工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0FE75D-4A4C-46D9-930E-E4010324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181600"/>
            <a:ext cx="2830286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4A3B8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B47E43-3971-4EB5-B36F-BC06613D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62550"/>
            <a:ext cx="87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8min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955412-1694-415D-B9B4-89C207DA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00700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AI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2FD5A4-066D-4F89-93A4-DE427096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638800"/>
            <a:ext cx="353786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A34A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445F01-9169-4692-82D8-4A123BF8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600700"/>
            <a:ext cx="87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A34A"/>
                </a:solidFill>
              </a:defRPr>
            </a:pPr>
            <a:r>
              <a:rPr sz="1275" b="1">
                <a:solidFill>
                  <a:srgbClr val="16A34A"/>
                </a:solidFill>
              </a:rPr>
              <a:t>1min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79A727-1F22-419C-AAE4-6AC6BD81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0"/>
            <a:ext cx="7600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测试点整理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B890E3-862A-440E-8E65-0290C200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15100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人工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2331D1-6188-4D6F-A39D-9520B9137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553200"/>
            <a:ext cx="1768929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4A3B8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43E5D8-D7A3-4D47-A8F1-F8863BA3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6515100"/>
            <a:ext cx="87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5min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AEBD3B-47C1-4E9A-BC4B-79C2D429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934200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AI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E1A3BD-D5EF-4AEA-94D1-8DF2283F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972300"/>
            <a:ext cx="353786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A34A"/>
          </a:solidFill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2D120D-678B-4A45-B1C2-1D302FC9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934200"/>
            <a:ext cx="87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A34A"/>
                </a:solidFill>
              </a:defRPr>
            </a:pPr>
            <a:r>
              <a:rPr sz="1275" b="1">
                <a:solidFill>
                  <a:srgbClr val="16A34A"/>
                </a:solidFill>
              </a:rPr>
              <a:t>1min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0D556F-7F1C-4782-8138-B97EFB29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33310"/>
            <a:ext cx="3691509" cy="1672590"/>
          </a:xfrm>
          <a:prstGeom xmlns:a="http://schemas.openxmlformats.org/drawingml/2006/main" prst="roundRect">
            <a:avLst>
              <a:gd name="adj" fmla="val 68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BF0DBA-19ED-4AC8-B2F0-C78A55B1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7658100"/>
            <a:ext cx="31623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6A34A"/>
                </a:solidFill>
              </a:defRPr>
            </a:pPr>
            <a:r>
              <a:rPr sz="4050" b="1">
                <a:solidFill>
                  <a:srgbClr val="16A34A"/>
                </a:solidFill>
              </a:rPr>
              <a:t>22 min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5608B6-F83E-4158-912C-566015B2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8362950"/>
            <a:ext cx="3162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单 PR 节省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C63860-8D96-4F1B-BE57-3BE179DB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8686800"/>
            <a:ext cx="31623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25 -&gt; 3 min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84FEDA-6171-45E9-B8A4-72DDCA01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209" y="7433310"/>
            <a:ext cx="3691509" cy="1672590"/>
          </a:xfrm>
          <a:prstGeom xmlns:a="http://schemas.openxmlformats.org/drawingml/2006/main" prst="roundRect">
            <a:avLst>
              <a:gd name="adj" fmla="val 68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616446-FA4F-4A98-8EA3-AA7A5C7C0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658100"/>
            <a:ext cx="31623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2563EB"/>
                </a:solidFill>
              </a:defRPr>
            </a:pPr>
            <a:r>
              <a:rPr sz="4050" b="1">
                <a:solidFill>
                  <a:srgbClr val="2563EB"/>
                </a:solidFill>
              </a:rPr>
              <a:t>7.3 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85FF9C-7B2E-4995-A8E2-EF6F3968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8362950"/>
            <a:ext cx="3162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每周节省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CCB8FA-5C62-4570-A238-6F3AA1C1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8686800"/>
            <a:ext cx="31623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20 个 PR 估算</a:t>
            </a:r>
          </a:p>
        </p:txBody>
      </p:sp>
      <p:graphicFrame>
        <p:nvGraphicFramePr>
          <p:cNvPr id="32" name="review-time"/>
          <p:cNvGraphicFramePr/>
          <p:nvPr/>
        </p:nvGraphicFramePr>
        <p:xfrm>
          <a:off xmlns:a="http://schemas.openxmlformats.org/drawingml/2006/main" x="8907018" y="2830830"/>
          <a:ext xmlns:a="http://schemas.openxmlformats.org/drawingml/2006/main" cx="8561832" cy="686562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bdc99cd5e3244fe"/>
          </a:graphicData>
        </a:graphic>
      </p:graphicFrame>
    </p:spTree>
    <p:extLst>
      <p:ext uri="{BB962C8B-B14F-4D97-AF65-F5344CB8AC3E}">
        <p14:creationId xmlns:p14="http://schemas.microsoft.com/office/powerpoint/2010/main" val="81697268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4B7E49-2E8C-49E7-BF29-64229615F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0550"/>
            <a:ext cx="86106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23B"/>
                </a:solidFill>
              </a:defRPr>
            </a:pPr>
            <a:r>
              <a:rPr sz="4050" b="1">
                <a:solidFill>
                  <a:srgbClr val="17223B"/>
                </a:solidFill>
              </a:rPr>
              <a:t>提效指标 2：质量前置，减少后置返工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FD6534-6FF2-4646-AFF3-CD436C96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62150"/>
            <a:ext cx="676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4748B"/>
                </a:solidFill>
              </a:defRPr>
            </a:pPr>
            <a:r>
              <a:rPr sz="1800">
                <a:solidFill>
                  <a:srgbClr val="64748B"/>
                </a:solidFill>
              </a:rPr>
              <a:t>AI 的收益不只是省时间，更是让高风险改动在 PR 阶段被稳定检查。</a:t>
            </a:r>
          </a:p>
        </p:txBody>
      </p:sp>
      <p:graphicFrame>
        <p:nvGraphicFramePr>
          <p:cNvPr id="3" name="quality"/>
          <p:cNvGraphicFramePr/>
          <p:nvPr/>
        </p:nvGraphicFramePr>
        <p:xfrm>
          <a:off xmlns:a="http://schemas.openxmlformats.org/drawingml/2006/main" x="819150" y="2811780"/>
          <a:ext xmlns:a="http://schemas.openxmlformats.org/drawingml/2006/main" cx="8067675" cy="688467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5ee627a3a04554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5321B5-102A-4459-9AD9-1EAA6662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924300"/>
            <a:ext cx="80772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6A34A"/>
                </a:solidFill>
              </a:defRPr>
            </a:pPr>
            <a:r>
              <a:rPr sz="4050" b="1">
                <a:solidFill>
                  <a:srgbClr val="16A34A"/>
                </a:solidFill>
              </a:rPr>
              <a:t>2 /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65009A-8B4A-46A5-87A3-747F0805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629150"/>
            <a:ext cx="8077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高风险前置发现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DD1C90-1ADF-46B8-B736-5135117B5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953000"/>
            <a:ext cx="8077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运动安全 + Action 契约都被命中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0EFBE-60DE-4CC5-863D-2744CAEC5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410200"/>
            <a:ext cx="80772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2563EB"/>
                </a:solidFill>
              </a:defRPr>
            </a:pPr>
            <a:r>
              <a:rPr sz="4050" b="1">
                <a:solidFill>
                  <a:srgbClr val="2563EB"/>
                </a:solidFill>
              </a:rPr>
              <a:t>6 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FB41C-EA55-4C03-8468-7F7FCB15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096000"/>
            <a:ext cx="8077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测试建议数量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520247-1A0F-4E7C-B7B0-B00B01995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438900"/>
            <a:ext cx="8077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从“请补测试”变成具体测试点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36F95-5A68-40FC-9225-47B5B1A8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896100"/>
            <a:ext cx="80772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F9F8F"/>
                </a:solidFill>
              </a:defRPr>
            </a:pPr>
            <a:r>
              <a:rPr sz="4050" b="1">
                <a:solidFill>
                  <a:srgbClr val="0F9F8F"/>
                </a:solidFill>
              </a:rPr>
              <a:t>函数级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26E6EC-0AC9-4E10-8AD3-2DB52CDC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7581900"/>
            <a:ext cx="8077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定位粒度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868053-2B6A-43F2-A07B-1FB1795A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7905750"/>
            <a:ext cx="8077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从文件名进一步定位到关键函数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5EE41E-7041-42AF-8C71-F607ED6F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8382000"/>
            <a:ext cx="9620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说明：这里是 demo 的可复现实验口径。生产环境应持续统计 AI 评论采纳率、缺陷前置发现率、回归缺陷逃逸率和测试补充率。</a:t>
            </a:r>
          </a:p>
        </p:txBody>
      </p:sp>
    </p:spTree>
    <p:extLst>
      <p:ext uri="{BB962C8B-B14F-4D97-AF65-F5344CB8AC3E}">
        <p14:creationId xmlns:p14="http://schemas.microsoft.com/office/powerpoint/2010/main" val="205014048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8E1045-A267-459F-99D5-8ADF1548F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0550"/>
            <a:ext cx="56578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23B"/>
                </a:solidFill>
              </a:defRPr>
            </a:pPr>
            <a:r>
              <a:rPr sz="4050" b="1">
                <a:solidFill>
                  <a:srgbClr val="17223B"/>
                </a:solidFill>
              </a:rPr>
              <a:t>给研发部门看的度量闭环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01C472-E03A-4280-AE2F-FCAAA0D4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33500"/>
            <a:ext cx="594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4748B"/>
                </a:solidFill>
              </a:defRPr>
            </a:pPr>
            <a:r>
              <a:rPr sz="1800">
                <a:solidFill>
                  <a:srgbClr val="64748B"/>
                </a:solidFill>
              </a:rPr>
              <a:t>先做小范围试点，用数据判断是否扩大到更多仓库和团队。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1CCA3D-AB41-4744-916D-B4AA2C28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5190"/>
            <a:ext cx="4275963" cy="1672590"/>
          </a:xfrm>
          <a:prstGeom xmlns:a="http://schemas.openxmlformats.org/drawingml/2006/main" prst="roundRect">
            <a:avLst>
              <a:gd name="adj" fmla="val 68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549CA0-59FD-40D6-B4A1-49ACAABF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57600"/>
            <a:ext cx="37338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6A34A"/>
                </a:solidFill>
              </a:defRPr>
            </a:pPr>
            <a:r>
              <a:rPr sz="4050" b="1">
                <a:solidFill>
                  <a:srgbClr val="16A34A"/>
                </a:solidFill>
              </a:rPr>
              <a:t>25 -&gt; 3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A4ECB6-E826-46CE-82D0-E2118C22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43400"/>
            <a:ext cx="3733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PR 首轮准备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FB2C92-10AF-49A5-831F-CD7B7EB5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667250"/>
            <a:ext cx="37338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效率指标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BFE16A-5F5B-4001-A962-DE6D7AC2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563" y="3425190"/>
            <a:ext cx="4275963" cy="1672590"/>
          </a:xfrm>
          <a:prstGeom xmlns:a="http://schemas.openxmlformats.org/drawingml/2006/main" prst="roundRect">
            <a:avLst>
              <a:gd name="adj" fmla="val 68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F59699-8821-4525-984E-125667221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57600"/>
            <a:ext cx="37338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2563EB"/>
                </a:solidFill>
              </a:defRPr>
            </a:pPr>
            <a:r>
              <a:rPr sz="4050" b="1">
                <a:solidFill>
                  <a:srgbClr val="2563EB"/>
                </a:solidFill>
              </a:rPr>
              <a:t>1 -&gt; 2 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2616AB-3A1D-41C5-B762-2D23A53F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43400"/>
            <a:ext cx="3733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高风险前置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85B06-69FF-42B9-9942-883E673F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67250"/>
            <a:ext cx="37338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质量指标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B117D2-9D23-407B-9DE2-12522880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8280"/>
            <a:ext cx="4275963" cy="1672590"/>
          </a:xfrm>
          <a:prstGeom xmlns:a="http://schemas.openxmlformats.org/drawingml/2006/main" prst="roundRect">
            <a:avLst>
              <a:gd name="adj" fmla="val 68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D4E320-6C45-4EAF-BD8F-2D968954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524500"/>
            <a:ext cx="37338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F9F8F"/>
                </a:solidFill>
              </a:defRPr>
            </a:pPr>
            <a:r>
              <a:rPr sz="4050" b="1">
                <a:solidFill>
                  <a:srgbClr val="0F9F8F"/>
                </a:solidFill>
              </a:rPr>
              <a:t>2 -&gt; 6 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6F500E-7089-4BF2-8883-F7F6C416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210300"/>
            <a:ext cx="3733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测试建议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B6153A-001E-4C29-8715-6B9AB463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534150"/>
            <a:ext cx="37338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测试指标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B81FE6-DA06-4FEC-8DE4-61D0B4F5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563" y="5288280"/>
            <a:ext cx="4275963" cy="1672590"/>
          </a:xfrm>
          <a:prstGeom xmlns:a="http://schemas.openxmlformats.org/drawingml/2006/main" prst="roundRect">
            <a:avLst>
              <a:gd name="adj" fmla="val 68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EA13CC-C8D0-48AB-9F1A-122D140A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524500"/>
            <a:ext cx="37338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59E0B"/>
                </a:solidFill>
              </a:defRPr>
            </a:pPr>
            <a:r>
              <a:rPr sz="4050" b="1">
                <a:solidFill>
                  <a:srgbClr val="F59E0B"/>
                </a:solidFill>
              </a:rPr>
              <a:t>文件 -&gt; 函数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A5543B-5599-48F2-855D-F8E4ACB9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210300"/>
            <a:ext cx="3733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定位粒度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7CAC15-84BC-4FBB-A262-6B23489B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534150"/>
            <a:ext cx="37338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协作指标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CE69F4-E802-4AC9-AC19-D7B78830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43750"/>
            <a:ext cx="8724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23B"/>
                </a:solidFill>
              </a:defRPr>
            </a:pPr>
            <a:r>
              <a:rPr sz="2100" b="1">
                <a:solidFill>
                  <a:srgbClr val="17223B"/>
                </a:solidFill>
              </a:rPr>
              <a:t>建议试点节奏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42D27-8880-4A98-A1E8-EDFF4CC3E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58100"/>
            <a:ext cx="59436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F2937"/>
                </a:solidFill>
              </a:defRPr>
            </a:pPr>
            <a:r>
              <a:rPr sz="1800">
                <a:solidFill>
                  <a:srgbClr val="1F2937"/>
                </a:solidFill>
              </a:rPr>
              <a:t>选择 1 个机器人/感知控制仓库，连续 2 周对所有 PR 生成 AI 初筛报告；统计采纳率、误报率、节省时间和缺陷前置率。</a:t>
            </a:r>
          </a:p>
        </p:txBody>
      </p:sp>
      <p:graphicFrame>
        <p:nvGraphicFramePr>
          <p:cNvPr id="21" name="dept-kpi"/>
          <p:cNvGraphicFramePr/>
          <p:nvPr/>
        </p:nvGraphicFramePr>
        <p:xfrm>
          <a:off xmlns:a="http://schemas.openxmlformats.org/drawingml/2006/main" x="10037826" y="1939290"/>
          <a:ext xmlns:a="http://schemas.openxmlformats.org/drawingml/2006/main" cx="7431024" cy="77571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9a9fd9fe29848b4"/>
          </a:graphicData>
        </a:graphic>
      </p:graphicFrame>
    </p:spTree>
    <p:extLst>
      <p:ext uri="{BB962C8B-B14F-4D97-AF65-F5344CB8AC3E}">
        <p14:creationId xmlns:p14="http://schemas.microsoft.com/office/powerpoint/2010/main" val="15809106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2026-05-18T00:03:00.2560000Z</dcterms:created>
  <dcterms:modified xsi:type="dcterms:W3CDTF">2026-05-18T00:03:00.2560000Z</dcterms:modified>
</coreProperties>
</file>