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0c5bcabc2e4599" /><Relationship Type="http://schemas.openxmlformats.org/officeDocument/2006/relationships/extended-properties" Target="/docProps/app.xml" Id="R7cc3f531f7894078" /><Relationship Type="http://schemas.openxmlformats.org/officeDocument/2006/relationships/officeDocument" Target="/ppt/presentation.xml" Id="R5b7fbbca52634b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8c65d7cda14869"/>
  </p:sldMasterIdLst>
  <p:notesMasterIdLst>
    <p:notesMasterId xmlns:r="http://schemas.openxmlformats.org/officeDocument/2006/relationships" r:id="R66a4b95d110a4838"/>
  </p:notesMasterIdLst>
  <p:sldIdLst>
    <p:sldId xmlns:r="http://schemas.openxmlformats.org/officeDocument/2006/relationships" id="256" r:id="Rcddb6feb0e034bde"/>
    <p:sldId xmlns:r="http://schemas.openxmlformats.org/officeDocument/2006/relationships" id="257" r:id="Rda8afd7063dc4dbf"/>
    <p:sldId xmlns:r="http://schemas.openxmlformats.org/officeDocument/2006/relationships" id="258" r:id="R06de444b6f374240"/>
    <p:sldId xmlns:r="http://schemas.openxmlformats.org/officeDocument/2006/relationships" id="259" r:id="Rd1033edbb3fa4cdf"/>
    <p:sldId xmlns:r="http://schemas.openxmlformats.org/officeDocument/2006/relationships" id="260" r:id="Rc6a3cad582d249c2"/>
    <p:sldId xmlns:r="http://schemas.openxmlformats.org/officeDocument/2006/relationships" id="261" r:id="Rc94bdbe9245544c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c65d7cda14869" /><Relationship Type="http://schemas.openxmlformats.org/officeDocument/2006/relationships/theme" Target="/ppt/theme/theme1.xml" Id="Rab99ef4711b54fa7" /><Relationship Type="http://schemas.openxmlformats.org/officeDocument/2006/relationships/notesMaster" Target="/ppt/notesMasters/notesMaster1.xml" Id="R66a4b95d110a4838" /><Relationship Type="http://schemas.openxmlformats.org/officeDocument/2006/relationships/presProps" Target="/ppt/presProps.xml" Id="R97221ee7f6a84375" /><Relationship Type="http://schemas.openxmlformats.org/officeDocument/2006/relationships/viewProps" Target="/ppt/viewProps.xml" Id="R10fa5e77018d4aa6" /><Relationship Type="http://schemas.openxmlformats.org/officeDocument/2006/relationships/tableStyles" Target="/ppt/tableStyles.xml" Id="R4b9fd8fe7f1345f7" /><Relationship Type="http://schemas.openxmlformats.org/officeDocument/2006/relationships/slide" Target="/ppt/slides/slide1.xml" Id="Rcddb6feb0e034bde" /><Relationship Type="http://schemas.openxmlformats.org/officeDocument/2006/relationships/slide" Target="/ppt/slides/slide2.xml" Id="Rda8afd7063dc4dbf" /><Relationship Type="http://schemas.openxmlformats.org/officeDocument/2006/relationships/slide" Target="/ppt/slides/slide3.xml" Id="R06de444b6f374240" /><Relationship Type="http://schemas.openxmlformats.org/officeDocument/2006/relationships/slide" Target="/ppt/slides/slide4.xml" Id="Rd1033edbb3fa4cdf" /><Relationship Type="http://schemas.openxmlformats.org/officeDocument/2006/relationships/slide" Target="/ppt/slides/slide5.xml" Id="Rc6a3cad582d249c2" /><Relationship Type="http://schemas.openxmlformats.org/officeDocument/2006/relationships/slide" Target="/ppt/slides/slide6.xml" Id="Rc94bdbe9245544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000ed74c1564c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7dc548c26442c0" /><Relationship Type="http://schemas.openxmlformats.org/officeDocument/2006/relationships/notesMaster" Target="/ppt/notesMasters/notesMaster1.xml" Id="R1d9440011a1a4f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f7c1309f154c87" /><Relationship Type="http://schemas.openxmlformats.org/officeDocument/2006/relationships/notesMaster" Target="/ppt/notesMasters/notesMaster1.xml" Id="Rba238b1b1a6d49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43b9b6ad2747b3" /><Relationship Type="http://schemas.openxmlformats.org/officeDocument/2006/relationships/notesMaster" Target="/ppt/notesMasters/notesMaster1.xml" Id="Rc6776da5ae3547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1853c5c3374340" /><Relationship Type="http://schemas.openxmlformats.org/officeDocument/2006/relationships/notesMaster" Target="/ppt/notesMasters/notesMaster1.xml" Id="R18198f0f02b44a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6a7e00ab78464c" /><Relationship Type="http://schemas.openxmlformats.org/officeDocument/2006/relationships/notesMaster" Target="/ppt/notesMasters/notesMaster1.xml" Id="Rf4222e5abae849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e37b4385624c7b" /><Relationship Type="http://schemas.openxmlformats.org/officeDocument/2006/relationships/notesMaster" Target="/ppt/notesMasters/notesMaster1.xml" Id="Rbe34b6b560a44f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2935679a34f7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d7db59d52f94c41" /><Relationship Type="http://schemas.openxmlformats.org/officeDocument/2006/relationships/slideLayout" Target="/ppt/slideLayouts/slideLayout2.xml" Id="Rc40a21a42a6143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0a21a42a6143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8d5f4d787848b6" /><Relationship Type="http://schemas.openxmlformats.org/officeDocument/2006/relationships/notesSlide" Target="/ppt/notesSlides/notesSlide1.xml" Id="R5b7f2797043647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dedd74f31a47fa" /><Relationship Type="http://schemas.openxmlformats.org/officeDocument/2006/relationships/notesSlide" Target="/ppt/notesSlides/notesSlide2.xml" Id="Rd4900417512349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9b1725ef894c68" /><Relationship Type="http://schemas.openxmlformats.org/officeDocument/2006/relationships/notesSlide" Target="/ppt/notesSlides/notesSlide3.xml" Id="Rb5acd2116d7f4f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dbc9592bae4688" /><Relationship Type="http://schemas.openxmlformats.org/officeDocument/2006/relationships/chart" Target="/ppt/slides/charts/chart1.xml" Id="Rc4498f12de094c00" /><Relationship Type="http://schemas.openxmlformats.org/officeDocument/2006/relationships/notesSlide" Target="/ppt/notesSlides/notesSlide4.xml" Id="R70f359474c1b41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8ba2298fd4485a" /><Relationship Type="http://schemas.openxmlformats.org/officeDocument/2006/relationships/chart" Target="/ppt/slides/charts/chart2.xml" Id="R9b2f8e62ad7849b9" /><Relationship Type="http://schemas.openxmlformats.org/officeDocument/2006/relationships/notesSlide" Target="/ppt/notesSlides/notesSlide5.xml" Id="R09343463e5da43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69bc7363294fb3" /><Relationship Type="http://schemas.openxmlformats.org/officeDocument/2006/relationships/chart" Target="/ppt/slides/charts/chart3.xml" Id="R15423c433ee740d0" /><Relationship Type="http://schemas.openxmlformats.org/officeDocument/2006/relationships/notesSlide" Target="/ppt/notesSlides/notesSlide6.xml" Id="R1dfc009da78845b5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准备时间对比（分钟）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人工</c:v>
          </c:tx>
          <c:cat>
            <c:strLit>
              <c:ptCount val="4"/>
              <c:pt idx="0">
                <c:v>理解 diff</c:v>
              </c:pt>
              <c:pt idx="1">
                <c:v>影响判断</c:v>
              </c:pt>
              <c:pt idx="2">
                <c:v>测试整理</c:v>
              </c:pt>
              <c:pt idx="3">
                <c:v>总计</c:v>
              </c:pt>
            </c:strLit>
          </c:cat>
          <c:val>
            <c:numLit>
              <c:formatCode/>
              <c:ptCount val="4"/>
              <c:pt idx="0">
                <c:v>12</c:v>
              </c:pt>
              <c:pt idx="1">
                <c:v>8</c:v>
              </c:pt>
              <c:pt idx="2">
                <c:v>5</c:v>
              </c:pt>
              <c:pt idx="3">
                <c:v>25</c:v>
              </c:pt>
            </c:numLit>
          </c:val>
        </c:ser>
        <c:ser>
          <c:idx val="1"/>
          <c:order val="1"/>
          <c:tx>
            <c:v>AI 辅助</c:v>
          </c:tx>
          <c:cat>
            <c:strLit>
              <c:ptCount val="4"/>
              <c:pt idx="0">
                <c:v>理解 diff</c:v>
              </c:pt>
              <c:pt idx="1">
                <c:v>影响判断</c:v>
              </c:pt>
              <c:pt idx="2">
                <c:v>测试整理</c:v>
              </c:pt>
              <c:pt idx="3">
                <c:v>总计</c:v>
              </c:pt>
            </c:strLit>
          </c:cat>
          <c:val>
            <c:numLit>
              <c:formatCode/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demo patch 命中质量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人工首轮</c:v>
          </c:tx>
          <c:cat>
            <c:strLit>
              <c:ptCount val="4"/>
              <c:pt idx="0">
                <c:v>高风险命中</c:v>
              </c:pt>
              <c:pt idx="1">
                <c:v>测试建议</c:v>
              </c:pt>
              <c:pt idx="2">
                <c:v>文件定位</c:v>
              </c:pt>
              <c:pt idx="3">
                <c:v>函数定位</c:v>
              </c:pt>
            </c:strLit>
          </c:cat>
          <c:val>
            <c:numLit>
              <c:formatCode/>
              <c:ptCount val="4"/>
              <c:pt idx="0">
                <c:v>1</c:v>
              </c:pt>
              <c:pt idx="1">
                <c:v>2</c:v>
              </c:pt>
              <c:pt idx="2">
                <c:v>2</c:v>
              </c:pt>
              <c:pt idx="3">
                <c:v>1</c:v>
              </c:pt>
            </c:numLit>
          </c:val>
        </c:ser>
        <c:ser>
          <c:idx val="1"/>
          <c:order val="1"/>
          <c:tx>
            <c:v>AI 初筛</c:v>
          </c:tx>
          <c:cat>
            <c:strLit>
              <c:ptCount val="4"/>
              <c:pt idx="0">
                <c:v>高风险命中</c:v>
              </c:pt>
              <c:pt idx="1">
                <c:v>测试建议</c:v>
              </c:pt>
              <c:pt idx="2">
                <c:v>文件定位</c:v>
              </c:pt>
              <c:pt idx="3">
                <c:v>函数定位</c:v>
              </c:pt>
            </c:strLit>
          </c:cat>
          <c:val>
            <c:numLit>
              <c:formatCode/>
              <c:ptCount val="4"/>
              <c:pt idx="0">
                <c:v>2</c:v>
              </c:pt>
              <c:pt idx="1">
                <c:v>6</c:v>
              </c:pt>
              <c:pt idx="2">
                <c:v>2</c:v>
              </c:pt>
              <c:pt idx="3">
                <c:v>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综合提效指数（人工=100）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指数</c:v>
          </c:tx>
          <c:cat>
            <c:strLit>
              <c:ptCount val="2"/>
              <c:pt idx="0">
                <c:v>人工</c:v>
              </c:pt>
              <c:pt idx="1">
                <c:v>AI 辅助</c:v>
              </c:pt>
            </c:strLit>
          </c:cat>
          <c:val>
            <c:numLit>
              <c:formatCode/>
              <c:ptCount val="2"/>
              <c:pt idx="0">
                <c:v>100</c:v>
              </c:pt>
              <c:pt idx="1">
                <c:v>260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154984-A4A2-48A4-BC47-35A87BD0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571500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7223B"/>
                </a:solidFill>
              </a:defRPr>
            </a:pPr>
            <a:r>
              <a:rPr sz="5550" b="1">
                <a:solidFill>
                  <a:srgbClr val="17223B"/>
                </a:solidFill>
              </a:rPr>
              <a:t>AI 助力机器人研发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2B680-DD35-4D5F-A757-3FE5395B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72009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0506A"/>
                </a:solidFill>
              </a:defRPr>
            </a:pPr>
            <a:r>
              <a:rPr sz="2025">
                <a:solidFill>
                  <a:srgbClr val="40506A"/>
                </a:solidFill>
              </a:rPr>
              <a:t>以 person_follow 的 PR 评审为例，把风险识别、上下文检索和测试建议前置到提交阶段。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168D2-72C7-4660-9136-C5F156B5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4545"/>
            <a:ext cx="4051697" cy="1706880"/>
          </a:xfrm>
          <a:prstGeom xmlns:a="http://schemas.openxmlformats.org/drawingml/2006/main" prst="roundRect">
            <a:avLst>
              <a:gd name="adj" fmla="val 6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2A3FF-D834-40C7-B227-F37A5700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15050"/>
            <a:ext cx="352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A34A"/>
                </a:solidFill>
              </a:defRPr>
            </a:pPr>
            <a:r>
              <a:rPr sz="4200" b="1">
                <a:solidFill>
                  <a:srgbClr val="16A34A"/>
                </a:solidFill>
              </a:rPr>
              <a:t>25 -&gt; 3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B6A50-5214-480D-AE83-C2912B50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38950"/>
            <a:ext cx="3524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7"/>
                </a:solidFill>
              </a:defRPr>
            </a:pPr>
            <a:r>
              <a:rPr sz="1725" b="1">
                <a:solidFill>
                  <a:srgbClr val="1F2937"/>
                </a:solidFill>
              </a:rPr>
              <a:t>评审准备时间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305E0-8B61-447E-AFE4-21DB8F0B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628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4B9D6-2A09-43B5-9F37-A95E417D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647" y="5884545"/>
            <a:ext cx="4051697" cy="1706880"/>
          </a:xfrm>
          <a:prstGeom xmlns:a="http://schemas.openxmlformats.org/drawingml/2006/main" prst="roundRect">
            <a:avLst>
              <a:gd name="adj" fmla="val 6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C10B6-3824-47EF-A6C8-085FA3D9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115050"/>
            <a:ext cx="352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2 /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53C37-0715-4BEB-99D3-C792454F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838950"/>
            <a:ext cx="3524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7"/>
                </a:solidFill>
              </a:defRPr>
            </a:pPr>
            <a:r>
              <a:rPr sz="1725" b="1">
                <a:solidFill>
                  <a:srgbClr val="1F2937"/>
                </a:solidFill>
              </a:rPr>
              <a:t>风险命中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4417A-415D-43FC-89D8-20580369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71628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01CAE-E031-4083-A9AC-8542DF2F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994" y="723900"/>
            <a:ext cx="7555706" cy="8839200"/>
          </a:xfrm>
          <a:prstGeom xmlns:a="http://schemas.openxmlformats.org/drawingml/2006/main" prst="roundRect">
            <a:avLst>
              <a:gd name="adj" fmla="val 20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11921-10C3-499A-A25E-986D7502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38550"/>
            <a:ext cx="676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23B"/>
                </a:solidFill>
              </a:defRPr>
            </a:pPr>
            <a:r>
              <a:rPr sz="2400" b="1">
                <a:solidFill>
                  <a:srgbClr val="17223B"/>
                </a:solidFill>
              </a:rPr>
              <a:t>AI Review 输出长什么样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7DE92-1B61-4487-9F29-E8C1C47E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D6514-7720-4D62-9201-AD827C88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44" y="451294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C91D4-3E08-4A45-A789-3FA5E978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6482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04659-6426-4313-A598-7B677144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14850"/>
            <a:ext cx="6057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运动安全高风险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2D6C8-31D6-4415-9983-A70A25B0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5775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目标丢失后必须关注 vx/wz 是否及时置 0，避免沿用上一帧底盘速度。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5C1A9-C458-4F1A-B91F-ADB2F37B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44" y="530923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B2F88-CD9F-4BF8-95BD-E68B4DAB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4483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683A4-7CCF-49B3-849F-B3D7CBC6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14950"/>
            <a:ext cx="6057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Action 契约兼容风险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A566F-1887-4445-B11D-473BF744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65785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start:person、start:72、stop/status 是外部系统依赖的稳定接口。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500FBE-EA3B-4983-88F3-D006CC54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44" y="610552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90FBE0-74AE-44D3-84DC-3CCCD52F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2484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A89B5-678F-4CA3-80B2-FE02EC66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15050"/>
            <a:ext cx="6057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测试补全建议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84EAB-B00C-42F7-AA92-7B1C155B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426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直接给出目标丢失帧、Action 参数、停止状态等测试点。</a:t>
            </a:r>
          </a:p>
        </p:txBody>
      </p:sp>
    </p:spTree>
    <p:extLst>
      <p:ext uri="{BB962C8B-B14F-4D97-AF65-F5344CB8AC3E}">
        <p14:creationId xmlns:p14="http://schemas.microsoft.com/office/powerpoint/2010/main" val="17371209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CEB4B1-2314-4AF2-815A-09E36A13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7181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23B"/>
                </a:solidFill>
              </a:defRPr>
            </a:pPr>
            <a:r>
              <a:rPr sz="4050" b="1">
                <a:solidFill>
                  <a:srgbClr val="17223B"/>
                </a:solidFill>
              </a:rPr>
              <a:t>怎么用：面试现场 3 条命令跑通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194D1-A250-4154-9EB0-C42EDFAE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5829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从样例 PR patch 到 AI Review 报告，不依赖 ROS 真机环境。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0ED53-C5E1-4FCD-B118-2DBC9565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1361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FDA45-91B6-4858-80B7-4066D70C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6F779-68E1-4B97-96A5-36ACB5DD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6229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进入工程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6208A-E268-4378-B1D2-B90B76F8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cd D:\person-follow-ai-reviewer-demo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E184F-20B1-4B70-A3B6-43744FEF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3703B-497F-45F0-A947-90AA913C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A31EC-75CF-40DD-9442-D9E8E250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6229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跑工具单测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1AA9A-4289-458C-A56B-894A2C60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2438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python -m unittest discover -s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72767-DF07-45D7-B7DA-7F9664CB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049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87B23-D0F2-4841-B982-142AB5C2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62355-39EE-4747-BE26-0F992863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6229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生成评审报告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AD8FE-541E-43B1-9ADA-858F350C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6324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python -m ai_review_bot.cli --repo sample_repo --diff examples\risky_person_follow.patch --include-prompt --output reports\demo_review.md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EA86B-3A25-44EB-A64C-E5C5AD6C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559" y="2213610"/>
            <a:ext cx="9186291" cy="7482840"/>
          </a:xfrm>
          <a:prstGeom xmlns:a="http://schemas.openxmlformats.org/drawingml/2006/main" prst="roundRect">
            <a:avLst>
              <a:gd name="adj" fmla="val 1782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46E85-3930-4F7F-A600-6DFE05EF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849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D2FE"/>
                </a:solidFill>
              </a:defRPr>
            </a:pPr>
            <a:r>
              <a:rPr sz="1800" b="1">
                <a:solidFill>
                  <a:srgbClr val="C7D2FE"/>
                </a:solidFill>
              </a:rPr>
              <a:t>输出文件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23D72-91D8-44A0-8417-FC6073E6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8496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reports\demo_review.md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28D71-C61C-46DD-A793-3E0FA014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62350"/>
            <a:ext cx="849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A4C8E-491D-4D82-8E18-4420D9E8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52850"/>
            <a:ext cx="849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报告里直接展示：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79ACC-22FA-4776-BF25-E169F775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55816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综合风险等级：高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命中函数：_handle_lost / _parse_action_name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风险依据：运动安全 + Action 契约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测试建议：vx/wz 置 0、start:person、start:72、stop 状态</a:t>
            </a:r>
          </a:p>
        </p:txBody>
      </p:sp>
    </p:spTree>
    <p:extLst>
      <p:ext uri="{BB962C8B-B14F-4D97-AF65-F5344CB8AC3E}">
        <p14:creationId xmlns:p14="http://schemas.microsoft.com/office/powerpoint/2010/main" val="5392689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91854C-C1AB-4BC9-946D-6745AE2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6229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23B"/>
                </a:solidFill>
              </a:defRPr>
            </a:pPr>
            <a:r>
              <a:rPr sz="4050" b="1">
                <a:solidFill>
                  <a:srgbClr val="17223B"/>
                </a:solidFill>
              </a:rPr>
              <a:t>AI 先做初筛，人做最终判断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2D3A3-458D-4803-A3AF-6A38B241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7562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AI 负责召回高风险上下文和测试建议，人负责取舍、代码判断和实机验证。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B0D03-4B75-41B2-9AAC-51D72277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68930"/>
            <a:ext cx="3990975" cy="4095750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EF235-ACFF-42C1-8A61-24DA02AD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563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A8119-E56F-46CC-89FE-01477D94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766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EC288-DF64-4F27-A85B-533B8043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4325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读取 diff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AE245-229D-4CF6-84BD-89329B3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86150"/>
            <a:ext cx="3028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解析变更文件、增量行号和 patch 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9D187-C99C-423A-A765-05DDF5D9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68930"/>
            <a:ext cx="3990975" cy="4095750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02CB1-C757-472B-82B1-855B7B53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3563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17842-FA45-484E-ACE4-4F0CF558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766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329C9-94E7-4A83-B889-B7E4674E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定位函数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9BB1C-4B95-4CE3-9558-46C14BA7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331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AST 定位到受影响函数，避免只看散乱 diff。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5D490-1964-45F7-BD19-83579C94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68930"/>
            <a:ext cx="3990975" cy="4095750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5D94C-D99B-45AB-B747-0AB2B203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3563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985B3-D6E3-42FD-AC15-AF01EFC6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766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BAF29-EFF4-4E03-BABA-542CF1D7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4325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匹配风险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CA551-CD2F-4B9E-B041-59946E7C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86150"/>
            <a:ext cx="3562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运动安全、深度距离、手势 FSM、Action 契约。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A6034-9329-4580-8A6E-1467F02B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2868930"/>
            <a:ext cx="3990975" cy="4095750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05B40-5312-4E5D-9BBB-7AECB646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313563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25B1E-DE7C-4DDE-A7C4-2550DA61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276600"/>
            <a:ext cx="15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7232A-55F3-4EE0-AF43-70C78257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314325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生成建议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20AD2-0A47-450E-A25F-ED3B3A3B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34861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输出 review 重点、测试点和 LLM prompt。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73B04-9B1E-4557-A99E-B65AB150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34250"/>
            <a:ext cx="9124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落地扩展：GitHub/GitLab Webhook 触发，报告可自动评论到 PR；LLM 只接收命中的函数上下文，减少幻觉和 token 成本。</a:t>
            </a:r>
          </a:p>
        </p:txBody>
      </p:sp>
    </p:spTree>
    <p:extLst>
      <p:ext uri="{BB962C8B-B14F-4D97-AF65-F5344CB8AC3E}">
        <p14:creationId xmlns:p14="http://schemas.microsoft.com/office/powerpoint/2010/main" val="2120349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BA049B-ED38-4904-A5F6-A034648C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0191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23B"/>
                </a:solidFill>
              </a:defRPr>
            </a:pPr>
            <a:r>
              <a:rPr sz="4050" b="1">
                <a:solidFill>
                  <a:srgbClr val="17223B"/>
                </a:solidFill>
              </a:rPr>
              <a:t>提效 1：评审准备从“通读”变成“验证 AI 结论”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7FB4C-FE47-43CD-B126-A9A883A1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8534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演示口径：一次中等规模机器人跟随 PR，人工需要通读上下文，AI 先给出风险锚点。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675E1-CE6D-42E1-B581-E09B6FA3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760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7"/>
                </a:solidFill>
              </a:defRPr>
            </a:pPr>
            <a:r>
              <a:rPr sz="1650" b="1">
                <a:solidFill>
                  <a:srgbClr val="1F2937"/>
                </a:solidFill>
              </a:rPr>
              <a:t>理解 diff + 找相关函数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05BFE-1F7A-4E55-98D0-03A1A510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人工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FE580-EE5F-4285-86F6-B04D3874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4245429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4A3B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EB738-96C5-4484-9990-4D7A705B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819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12min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53C14-95E1-466F-AB71-B62C429A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AA03E-4A31-4DD5-8555-7F72E796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29100"/>
            <a:ext cx="353786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96C4A-7F17-4146-B568-EDD14904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10050"/>
            <a:ext cx="819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A34A"/>
                </a:solidFill>
              </a:defRPr>
            </a:pPr>
            <a:r>
              <a:rPr sz="1275" b="1">
                <a:solidFill>
                  <a:srgbClr val="16A34A"/>
                </a:solidFill>
              </a:rPr>
              <a:t>1min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C3FAC-B924-4203-9A56-5E5BFC5E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760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7"/>
                </a:solidFill>
              </a:defRPr>
            </a:pPr>
            <a:r>
              <a:rPr sz="1650" b="1">
                <a:solidFill>
                  <a:srgbClr val="1F2937"/>
                </a:solidFill>
              </a:rPr>
              <a:t>影响范围判断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6BFD3-63E6-4BDB-AE7F-05CBB01D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人工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D34F7-A2E5-4804-ACBF-45F9DF60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81600"/>
            <a:ext cx="2830286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4A3B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2E50B-6ECE-4197-917A-C3EF5F7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819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8min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AECAD-40CE-4A61-A631-B8E33D24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74512-A4D5-4D0C-BE7A-FC1A9062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00700"/>
            <a:ext cx="353786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C6279-2C1E-4FD6-91AD-7A1F5E2B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81650"/>
            <a:ext cx="819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A34A"/>
                </a:solidFill>
              </a:defRPr>
            </a:pPr>
            <a:r>
              <a:rPr sz="1275" b="1">
                <a:solidFill>
                  <a:srgbClr val="16A34A"/>
                </a:solidFill>
              </a:rPr>
              <a:t>1min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AA77E-1F8A-447E-9DB5-E4DEA502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0"/>
            <a:ext cx="760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7"/>
                </a:solidFill>
              </a:defRPr>
            </a:pPr>
            <a:r>
              <a:rPr sz="1650" b="1">
                <a:solidFill>
                  <a:srgbClr val="1F2937"/>
                </a:solidFill>
              </a:rPr>
              <a:t>测试点整理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C76E8-A4D7-4EF8-BD0F-889E4CD6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960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人工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C879E-2809-4072-80C2-C15B5CBC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553200"/>
            <a:ext cx="1768929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4A3B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FF9A0-512C-4218-A321-71C51199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496050"/>
            <a:ext cx="819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5min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F8FA6-435D-4F2C-A572-F8713B7E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3420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6ED89-E09F-4657-B0CF-F9B94E27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972300"/>
            <a:ext cx="353786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6574D-30F0-4A52-8A7F-3D2E1198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934200"/>
            <a:ext cx="819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A34A"/>
                </a:solidFill>
              </a:defRPr>
            </a:pPr>
            <a:r>
              <a:rPr sz="1275" b="1">
                <a:solidFill>
                  <a:srgbClr val="16A34A"/>
                </a:solidFill>
              </a:rPr>
              <a:t>1min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9B9B64-C033-4CE6-B339-5929198E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44740"/>
            <a:ext cx="3662934" cy="1706880"/>
          </a:xfrm>
          <a:prstGeom xmlns:a="http://schemas.openxmlformats.org/drawingml/2006/main" prst="roundRect">
            <a:avLst>
              <a:gd name="adj" fmla="val 6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5201B7-F0E8-481D-BAC6-C1C2CA83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677150"/>
            <a:ext cx="3124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64748B"/>
                </a:solidFill>
              </a:defRPr>
            </a:pPr>
            <a:r>
              <a:rPr sz="4200" b="1">
                <a:solidFill>
                  <a:srgbClr val="64748B"/>
                </a:solidFill>
              </a:rPr>
              <a:t>25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798CA9-63B7-4221-84BE-7F7C9BAE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382000"/>
            <a:ext cx="3124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7"/>
                </a:solidFill>
              </a:defRPr>
            </a:pPr>
            <a:r>
              <a:rPr sz="1725" b="1">
                <a:solidFill>
                  <a:srgbClr val="1F2937"/>
                </a:solidFill>
              </a:rPr>
              <a:t>人工准备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FD483-4195-4850-888A-B15544D3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7249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7AC6EF-89A8-4339-A341-90B1AF8F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784" y="7444740"/>
            <a:ext cx="3662934" cy="1706880"/>
          </a:xfrm>
          <a:prstGeom xmlns:a="http://schemas.openxmlformats.org/drawingml/2006/main" prst="roundRect">
            <a:avLst>
              <a:gd name="adj" fmla="val 6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DBE911-79FE-49D7-874A-C6F36A14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7677150"/>
            <a:ext cx="3124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A34A"/>
                </a:solidFill>
              </a:defRPr>
            </a:pPr>
            <a:r>
              <a:rPr sz="4200" b="1">
                <a:solidFill>
                  <a:srgbClr val="16A34A"/>
                </a:solidFill>
              </a:rPr>
              <a:t>3 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DC6261-40EA-4FE9-8254-D050D5BD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8382000"/>
            <a:ext cx="3124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7"/>
                </a:solidFill>
              </a:defRPr>
            </a:pPr>
            <a:r>
              <a:rPr sz="1725" b="1">
                <a:solidFill>
                  <a:srgbClr val="1F2937"/>
                </a:solidFill>
              </a:rPr>
              <a:t>AI 初筛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16148B-E40E-4225-BCE0-0D7FBF32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87249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graphicFrame>
        <p:nvGraphicFramePr>
          <p:cNvPr id="32" name="review-time"/>
          <p:cNvGraphicFramePr/>
          <p:nvPr/>
        </p:nvGraphicFramePr>
        <p:xfrm>
          <a:off xmlns:a="http://schemas.openxmlformats.org/drawingml/2006/main" x="8907018" y="2830830"/>
          <a:ext xmlns:a="http://schemas.openxmlformats.org/drawingml/2006/main" cx="8561832" cy="68656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498f12de094c00"/>
          </a:graphicData>
        </a:graphic>
      </p:graphicFrame>
    </p:spTree>
    <p:extLst>
      <p:ext uri="{BB962C8B-B14F-4D97-AF65-F5344CB8AC3E}">
        <p14:creationId xmlns:p14="http://schemas.microsoft.com/office/powerpoint/2010/main" val="102963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9D87BD-3A89-46DD-93E4-62693DD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01536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23B"/>
                </a:solidFill>
              </a:defRPr>
            </a:pPr>
            <a:r>
              <a:rPr sz="4050" b="1">
                <a:solidFill>
                  <a:srgbClr val="17223B"/>
                </a:solidFill>
              </a:rPr>
              <a:t>提效 2：不只是省时间，而是让风险更早暴露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B1E5F-8170-4AFB-A78A-B72D0878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8515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人工 review 易受经验和疲劳影响；AI 的价值是稳定覆盖项目规则中的高风险检查项。</a:t>
            </a:r>
          </a:p>
        </p:txBody>
      </p:sp>
      <p:graphicFrame>
        <p:nvGraphicFramePr>
          <p:cNvPr id="3" name="quality"/>
          <p:cNvGraphicFramePr/>
          <p:nvPr/>
        </p:nvGraphicFramePr>
        <p:xfrm>
          <a:off xmlns:a="http://schemas.openxmlformats.org/drawingml/2006/main" x="819150" y="2811780"/>
          <a:ext xmlns:a="http://schemas.openxmlformats.org/drawingml/2006/main" cx="8067675" cy="688467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2f8e62ad7849b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DE2EF-B739-4866-AE24-9D5AD5ED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86200"/>
            <a:ext cx="8077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A34A"/>
                </a:solidFill>
              </a:defRPr>
            </a:pPr>
            <a:r>
              <a:rPr sz="4200" b="1">
                <a:solidFill>
                  <a:srgbClr val="16A34A"/>
                </a:solidFill>
              </a:rPr>
              <a:t>2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83D66-F2ED-4732-B8D7-01BB24EF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91050"/>
            <a:ext cx="807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7"/>
                </a:solidFill>
              </a:defRPr>
            </a:pPr>
            <a:r>
              <a:rPr sz="1725" b="1">
                <a:solidFill>
                  <a:srgbClr val="1F2937"/>
                </a:solidFill>
              </a:rPr>
              <a:t>高风险前置发现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37B24-C8A4-4A38-9754-4DF8850C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33950"/>
            <a:ext cx="807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运动安全 + Action 契约都被命中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9B20F-F002-4C98-B6A7-3C7E5CA6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91150"/>
            <a:ext cx="8077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6 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EC513-11E5-4EF4-B838-C8CC6CB9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115050"/>
            <a:ext cx="807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7"/>
                </a:solidFill>
              </a:defRPr>
            </a:pPr>
            <a:r>
              <a:rPr sz="1725" b="1">
                <a:solidFill>
                  <a:srgbClr val="1F2937"/>
                </a:solidFill>
              </a:rPr>
              <a:t>测试建议数量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91D06-D703-4087-96DF-CBB59ED1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57950"/>
            <a:ext cx="807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从“请补测试”变成具体测试点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7635E-5641-4197-80A8-6D88FC77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915150"/>
            <a:ext cx="8077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9F8F"/>
                </a:solidFill>
              </a:defRPr>
            </a:pPr>
            <a:r>
              <a:rPr sz="4200" b="1">
                <a:solidFill>
                  <a:srgbClr val="0F9F8F"/>
                </a:solidFill>
              </a:rPr>
              <a:t>函数级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6247F-4866-43D5-9B6F-89586D4D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620000"/>
            <a:ext cx="807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7"/>
                </a:solidFill>
              </a:defRPr>
            </a:pPr>
            <a:r>
              <a:rPr sz="1725" b="1">
                <a:solidFill>
                  <a:srgbClr val="1F2937"/>
                </a:solidFill>
              </a:rPr>
              <a:t>定位粒度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D4002-1B14-4085-99EC-55171BFA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962900"/>
            <a:ext cx="807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从文件名进一步定位到关键函数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5D41A-F357-496C-898F-A53D3C61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4201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说明：这里是面试 demo 的可复现实验口径，不宣称生产收益；生产环境可统计 PR 周期、AI 评论采纳率、缺陷逃逸率和测试补充率。</a:t>
            </a:r>
          </a:p>
        </p:txBody>
      </p:sp>
    </p:spTree>
    <p:extLst>
      <p:ext uri="{BB962C8B-B14F-4D97-AF65-F5344CB8AC3E}">
        <p14:creationId xmlns:p14="http://schemas.microsoft.com/office/powerpoint/2010/main" val="3840011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B6E74-D3BD-4972-AF61-BFE7C36C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88201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23B"/>
                </a:solidFill>
              </a:defRPr>
            </a:pPr>
            <a:r>
              <a:rPr sz="4050" b="1">
                <a:solidFill>
                  <a:srgbClr val="17223B"/>
                </a:solidFill>
              </a:rPr>
              <a:t>人工 vs AI：提效体现在 4 个可量化指标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0B97A-4514-4842-9F6F-53C117AC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5676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面试时建议先讲 demo 数据，再讲上线后如何持续度量。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3658A-33DE-4ABD-A8C0-B24825A8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0935"/>
            <a:ext cx="4144804" cy="1706880"/>
          </a:xfrm>
          <a:prstGeom xmlns:a="http://schemas.openxmlformats.org/drawingml/2006/main" prst="roundRect">
            <a:avLst>
              <a:gd name="adj" fmla="val 6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3974E-6085-47D4-8EBE-3094D1FC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3619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A34A"/>
                </a:solidFill>
              </a:defRPr>
            </a:pPr>
            <a:r>
              <a:rPr sz="4200" b="1">
                <a:solidFill>
                  <a:srgbClr val="16A34A"/>
                </a:solidFill>
              </a:rPr>
              <a:t>25 -&gt; 3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BCD63-C172-45D2-BEC6-4E322AF1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7"/>
                </a:solidFill>
              </a:defRPr>
            </a:pPr>
            <a:r>
              <a:rPr sz="1725" b="1">
                <a:solidFill>
                  <a:srgbClr val="1F2937"/>
                </a:solidFill>
              </a:rPr>
              <a:t>评审准备时间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FC787-F347-4CC3-AF7F-42A79F10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9D87C-04E2-4C19-970C-1522A6A7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404" y="3670935"/>
            <a:ext cx="4144804" cy="1706880"/>
          </a:xfrm>
          <a:prstGeom xmlns:a="http://schemas.openxmlformats.org/drawingml/2006/main" prst="roundRect">
            <a:avLst>
              <a:gd name="adj" fmla="val 6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D7DB8-D2DA-4393-9F51-C0328408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05250"/>
            <a:ext cx="3619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1 -&gt; 2 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5ACFD-CF26-46BE-989A-49EC08C1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1010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7"/>
                </a:solidFill>
              </a:defRPr>
            </a:pPr>
            <a:r>
              <a:rPr sz="1725" b="1">
                <a:solidFill>
                  <a:srgbClr val="1F2937"/>
                </a:solidFill>
              </a:rPr>
              <a:t>高风险前置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C39E4-CE4C-471B-870B-9605A5B3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5300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EF628-7B3A-44CC-97E7-C20888E3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7365"/>
            <a:ext cx="4144804" cy="1706880"/>
          </a:xfrm>
          <a:prstGeom xmlns:a="http://schemas.openxmlformats.org/drawingml/2006/main" prst="roundRect">
            <a:avLst>
              <a:gd name="adj" fmla="val 6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3B334-5C25-45A7-91ED-1CBBFBF3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10250"/>
            <a:ext cx="3619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9F8F"/>
                </a:solidFill>
              </a:defRPr>
            </a:pPr>
            <a:r>
              <a:rPr sz="4200" b="1">
                <a:solidFill>
                  <a:srgbClr val="0F9F8F"/>
                </a:solidFill>
              </a:rPr>
              <a:t>2 -&gt; 6 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74D09-6E29-4CCF-93A6-D6F0244F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53415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7"/>
                </a:solidFill>
              </a:defRPr>
            </a:pPr>
            <a:r>
              <a:rPr sz="1725" b="1">
                <a:solidFill>
                  <a:srgbClr val="1F2937"/>
                </a:solidFill>
              </a:rPr>
              <a:t>测试建议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13CC7-E57C-445D-9474-814DD7F5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8770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769B0-20CD-41E4-930F-36169BC0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404" y="5587365"/>
            <a:ext cx="4144804" cy="1706880"/>
          </a:xfrm>
          <a:prstGeom xmlns:a="http://schemas.openxmlformats.org/drawingml/2006/main" prst="roundRect">
            <a:avLst>
              <a:gd name="adj" fmla="val 6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331F8-0DC1-464C-9AC2-90036B9A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810250"/>
            <a:ext cx="3619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9E0B"/>
                </a:solidFill>
              </a:defRPr>
            </a:pPr>
            <a:r>
              <a:rPr sz="4200" b="1">
                <a:solidFill>
                  <a:srgbClr val="F59E0B"/>
                </a:solidFill>
              </a:rPr>
              <a:t>文件 -&gt; 函数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84E42-4250-4883-B0EE-71AB41A7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53415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7"/>
                </a:solidFill>
              </a:defRPr>
            </a:pPr>
            <a:r>
              <a:rPr sz="1725" b="1">
                <a:solidFill>
                  <a:srgbClr val="1F2937"/>
                </a:solidFill>
              </a:rPr>
              <a:t>定位粒度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C09CE-F3D2-4FAC-AE61-C8A0385F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8770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8DD69-25DE-4EAD-8D4B-B7CD3D7B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05700"/>
            <a:ext cx="8458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23B"/>
                </a:solidFill>
              </a:defRPr>
            </a:pPr>
            <a:r>
              <a:rPr sz="2100" b="1">
                <a:solidFill>
                  <a:srgbClr val="17223B"/>
                </a:solidFill>
              </a:rPr>
              <a:t>上线后真实指标建议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FCC3C-B5B3-431A-8826-215004DF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39100"/>
            <a:ext cx="6400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937"/>
                </a:solidFill>
              </a:defRPr>
            </a:pPr>
            <a:r>
              <a:rPr sz="1800">
                <a:solidFill>
                  <a:srgbClr val="1F2937"/>
                </a:solidFill>
              </a:rPr>
              <a:t>PR 首轮 review 时长、AI 评论采纳率、缺陷前置发现率、测试补充率、回归缺陷逃逸率。</a:t>
            </a:r>
          </a:p>
        </p:txBody>
      </p:sp>
      <p:graphicFrame>
        <p:nvGraphicFramePr>
          <p:cNvPr id="21" name="efficiency-index"/>
          <p:cNvGraphicFramePr/>
          <p:nvPr/>
        </p:nvGraphicFramePr>
        <p:xfrm>
          <a:off xmlns:a="http://schemas.openxmlformats.org/drawingml/2006/main" x="9813608" y="2556510"/>
          <a:ext xmlns:a="http://schemas.openxmlformats.org/drawingml/2006/main" cx="7655242" cy="71399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423c433ee740d0"/>
          </a:graphicData>
        </a:graphic>
      </p:graphicFrame>
    </p:spTree>
    <p:extLst>
      <p:ext uri="{BB962C8B-B14F-4D97-AF65-F5344CB8AC3E}">
        <p14:creationId xmlns:p14="http://schemas.microsoft.com/office/powerpoint/2010/main" val="426787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2026-05-14T07:46:06.7800000Z</dcterms:created>
  <dcterms:modified xsi:type="dcterms:W3CDTF">2026-05-14T07:46:06.7800000Z</dcterms:modified>
</coreProperties>
</file>